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146d65f1d84e02" /><Relationship Type="http://schemas.openxmlformats.org/officeDocument/2006/relationships/extended-properties" Target="/docProps/app.xml" Id="R8722a24569484dd5" /><Relationship Type="http://schemas.openxmlformats.org/officeDocument/2006/relationships/officeDocument" Target="/ppt/presentation.xml" Id="R1392061dd5474e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213d91730e49df"/>
  </p:sldMasterIdLst>
  <p:notesMasterIdLst>
    <p:notesMasterId xmlns:r="http://schemas.openxmlformats.org/officeDocument/2006/relationships" r:id="R48b5e033b16044ab"/>
  </p:notesMasterIdLst>
  <p:sldIdLst>
    <p:sldId xmlns:r="http://schemas.openxmlformats.org/officeDocument/2006/relationships" id="256" r:id="R33bcaf4c93564fcb"/>
    <p:sldId xmlns:r="http://schemas.openxmlformats.org/officeDocument/2006/relationships" id="257" r:id="R9ffd5723d8f645a3"/>
    <p:sldId xmlns:r="http://schemas.openxmlformats.org/officeDocument/2006/relationships" id="258" r:id="R5f08985a93e74caf"/>
    <p:sldId xmlns:r="http://schemas.openxmlformats.org/officeDocument/2006/relationships" id="259" r:id="R1cd09f07a74d4776"/>
    <p:sldId xmlns:r="http://schemas.openxmlformats.org/officeDocument/2006/relationships" id="260" r:id="Rc712d67c661a4b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ebcb7e8b2547fd" /><Relationship Type="http://schemas.openxmlformats.org/officeDocument/2006/relationships/slideMaster" Target="/ppt/slideMasters/slideMaster1.xml" Id="Re4213d91730e49df" /><Relationship Type="http://schemas.openxmlformats.org/officeDocument/2006/relationships/notesMaster" Target="/ppt/notesMasters/notesMaster1.xml" Id="R48b5e033b16044ab" /><Relationship Type="http://schemas.openxmlformats.org/officeDocument/2006/relationships/presProps" Target="/ppt/presProps.xml" Id="R19d3dd425633416c" /><Relationship Type="http://schemas.openxmlformats.org/officeDocument/2006/relationships/tableStyles" Target="/ppt/tableStyles.xml" Id="R3b2fbd18543040d0" /><Relationship Type="http://schemas.openxmlformats.org/officeDocument/2006/relationships/slide" Target="/ppt/slides/slide1.xml" Id="R33bcaf4c93564fcb" /><Relationship Type="http://schemas.openxmlformats.org/officeDocument/2006/relationships/slide" Target="/ppt/slides/slide2.xml" Id="R9ffd5723d8f645a3" /><Relationship Type="http://schemas.openxmlformats.org/officeDocument/2006/relationships/slide" Target="/ppt/slides/slide3.xml" Id="R5f08985a93e74caf" /><Relationship Type="http://schemas.openxmlformats.org/officeDocument/2006/relationships/slide" Target="/ppt/slides/slide4.xml" Id="R1cd09f07a74d4776" /><Relationship Type="http://schemas.openxmlformats.org/officeDocument/2006/relationships/slide" Target="/ppt/slides/slide5.xml" Id="Rc712d67c661a4b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1753b4132a40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11e9dd65c94776" /><Relationship Type="http://schemas.openxmlformats.org/officeDocument/2006/relationships/notesMaster" Target="/ppt/notesMasters/notesMaster1.xml" Id="R26320703eda148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a39b5634774fcf" /><Relationship Type="http://schemas.openxmlformats.org/officeDocument/2006/relationships/notesMaster" Target="/ppt/notesMasters/notesMaster1.xml" Id="R1b8477333f0944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100a6d12134ee1" /><Relationship Type="http://schemas.openxmlformats.org/officeDocument/2006/relationships/notesMaster" Target="/ppt/notesMasters/notesMaster1.xml" Id="R535120b970834d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a02a90bcb644be" /><Relationship Type="http://schemas.openxmlformats.org/officeDocument/2006/relationships/notesMaster" Target="/ppt/notesMasters/notesMaster1.xml" Id="R692f5e45c01146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e0735c7af0400d" /><Relationship Type="http://schemas.openxmlformats.org/officeDocument/2006/relationships/notesMaster" Target="/ppt/notesMasters/notesMaster1.xml" Id="R440c9a7db05c4c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产品定位依据：docs/product-spec.md，第 1、2 节。一个付款钱包为 1–5 个接收地址购买 ERC-721 Pass。仓库名为 FairDrop，对外产品名为 CoDrop。页面风格来源：http://localhost:5173/，访问日期 2026-09-05；精确配色来自 src/style.css。封面图片原文件：public/codrop-editorial-hero.png。仅测试网 POC，不表示接入真实活动或具备主网商业售票能力。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功能规则依据：docs/product-spec.md，第 3–6 节。付款人可完全替别人购买。接收者无需在线、不需签名，也无需额外领取。接收地址表示最初收件人，不等同于确认参加。库存判断以链上执行为准。检查、扣库存、铸造、记账同笔完成，失败时整单回滚，不会部分发放，失败仍可能产生 Gas。图片为票券概念插画。完整三地址测试网购买仍待验收，见第 5 页及 docs/acceptance.md。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费率规则依据：docs/product-spec.md，第 7 节。平台收入 = 成交额 × 100 ÷ 10,000，向下取整，主办方获得余款。当前部署单价 0.01 MON 依据 docs/acceptance.md 的“当前部署”以及 README.md，不使用产品规格默认的每张 1 MON。演示算例并非已完成交易：3 × 0.01 = 0.03 MON；0.03 × 99% = 0.0297 MON；0.03 × 1% = 0.0003 MON。成功订单仅增加待提款账目，双方连接各自钱包发起提款，各自承担对应交易 Gas。图片为票根概念插画，不代表面积或长度比例。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技术栈依据项目实际源码与本地文档。package.json 声明 React、TypeScript、Vite、wagmi、viem、TanStack Query。src/config.ts 使用 monadTestnet、injected() 钱包连接以及 Monad HTTP RPC transport。docs/acceptance.md 记载 Chain ID 10143。src/App.tsx 在提交前模拟与估算合约 Gas，通过 MetaMask 签名发送 Monad 测试网交易；成功回执后，用 useBlock({blockTag: finalized}) 检查 finalized 区块高度覆盖回执区块，随后显示成功并刷新库存与余额。contracts/src/CoDropPass.sol 基于 OpenZeppelin ERC721 与 ReentrancyGuard；buy(address[] recipients) 在同笔交易中验证人数、库存、金额与地址，更新库存及 99%/1% 待提款余额，并向接收地址 safeMint Pass。withdrawOrganizer() 与 withdrawPlatform() 分别提款。contracts/foundry.toml 指定 network = monad、hardfork = monad:MonadNine，采用 Solidity 0.8.30，EVM 编译目标 cancun。这里描述仓库当前实现，不主张该 hardfork 是其他日期的最新 Monad 配置。docs/product-spec.md 第 8–10 节明确无需后端数据库，NFT 所有权和收支状态以链上数据为准。完整多人购买及提款验收状态见下一页。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进度依据：docs/acceptance.md，日期 2026-09-05，以及 README.md。当前测试网合约 0xB4Fdc79F2540DA2541FA74F4361B916b6B98c374，源码已验证，测试部署库存 1000 张、单价 0.01 MON。已完成单人烟雾测试发生在先前 5 张库存的合约 0xF96E3040989d94833D031a8d7a91393EBc6f4021；购买交易 https://testnet.monadvision.com/tx/0xff47f7cbc995a5ba5c235a1a46c9a27da5f7491eae739715191912f8f9eb3f7a。文档记载购买后已售 1、剩余 4，主办方待提款 0.0099 MON、平台 0.0001 MON，并经 RPC 独立核对。尚未完成 P01 三个地址同笔购买以及主办方、平台提款，不能把烟雾测试当作完整验收。docs/implementation-tasks.md 的 T02–T10 状态未同步到当前实现，因此以验收记录中具体证据界定本页进度。范围依据 docs/product-spec.md 第 12、13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9980428ca41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2810df18eb4f82" /><Relationship Type="http://schemas.openxmlformats.org/officeDocument/2006/relationships/slideLayout" Target="/ppt/slideLayouts/slideLayout1.xml" Id="R979273344cf44c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9273344cf44c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bb45d87694da4" /><Relationship Type="http://schemas.openxmlformats.org/officeDocument/2006/relationships/image" Target="/ppt/media/image.png" Id="Rb9a950d714394868" /><Relationship Type="http://schemas.openxmlformats.org/officeDocument/2006/relationships/notesSlide" Target="/ppt/notesSlides/notesSlide1.xml" Id="Rb6bbc5636e5541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e0e863b5d4247" /><Relationship Type="http://schemas.openxmlformats.org/officeDocument/2006/relationships/image" Target="/ppt/media/image2.png" Id="Rf6591bf92eb44f68" /><Relationship Type="http://schemas.openxmlformats.org/officeDocument/2006/relationships/notesSlide" Target="/ppt/notesSlides/notesSlide2.xml" Id="Re7cdf2f12b5443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dcf37d17740d0" /><Relationship Type="http://schemas.openxmlformats.org/officeDocument/2006/relationships/image" Target="/ppt/media/image3.png" Id="R44c28c75466744ae" /><Relationship Type="http://schemas.openxmlformats.org/officeDocument/2006/relationships/notesSlide" Target="/ppt/notesSlides/notesSlide3.xml" Id="Rb147170f3acd44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cc8e987f44773" /><Relationship Type="http://schemas.openxmlformats.org/officeDocument/2006/relationships/notesSlide" Target="/ppt/notesSlides/notesSlide4.xml" Id="Radec53c0241247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cabbb8cdd4201" /><Relationship Type="http://schemas.openxmlformats.org/officeDocument/2006/relationships/notesSlide" Target="/ppt/notesSlides/notesSlide5.xml" Id="R22b311e39b7447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950d714394868"/>
          <a:stretch xmlns:a="http://schemas.openxmlformats.org/drawingml/2006/main"/>
        </p:blipFill>
        <p:spPr>
          <a:xfrm xmlns:a="http://schemas.openxmlformats.org/drawingml/2006/main">
            <a:off x="7239000" y="127000"/>
            <a:ext cx="4953000" cy="6604000"/>
          </a:xfrm>
          <a:prstGeom xmlns:a="http://schemas.openxmlformats.org/drawingml/2006/main" prst="rect">
            <a:avLst/>
          </a:prstGeom>
        </p:spPr>
      </p:pic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56662D25-A9DB-47A9-8A8C-33ADE2C2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4650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CoDrop</a:t>
            </a:r>
          </a:p>
        </p:txBody>
      </p:sp>
      <p:sp>
        <p:nvSpPr>
          <p:cNvPr id="3" name="brand-cn">
            <a:extLst xmlns:a="http://schemas.openxmlformats.org/drawingml/2006/main">
              <a:ext uri="{FF2B5EF4-FFF2-40B4-BE49-F238E27FC236}">
                <a16:creationId xmlns:a16="http://schemas.microsoft.com/office/drawing/2014/main" id="{597314F4-2814-4CD0-A655-B7CFF9DD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762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一起买</a:t>
            </a:r>
          </a:p>
        </p:txBody>
      </p:sp>
      <p:sp>
        <p:nvSpPr>
          <p:cNvPr id="4" name="cover-title-1">
            <a:extLst xmlns:a="http://schemas.openxmlformats.org/drawingml/2006/main">
              <a:ext uri="{FF2B5EF4-FFF2-40B4-BE49-F238E27FC236}">
                <a16:creationId xmlns:a16="http://schemas.microsoft.com/office/drawing/2014/main" id="{3B0EF794-7A4E-44F0-94CF-DB403874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286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一次付款，</a:t>
            </a:r>
          </a:p>
        </p:txBody>
      </p:sp>
      <p:sp>
        <p:nvSpPr>
          <p:cNvPr id="5" name="cover-title-2">
            <a:extLst xmlns:a="http://schemas.openxmlformats.org/drawingml/2006/main">
              <a:ext uri="{FF2B5EF4-FFF2-40B4-BE49-F238E27FC236}">
                <a16:creationId xmlns:a16="http://schemas.microsoft.com/office/drawing/2014/main" id="{3D151107-5E2E-43FF-A3BD-8FFA78E0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05125"/>
            <a:ext cx="6286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帮朋友</a:t>
            </a:r>
          </a:p>
        </p:txBody>
      </p:sp>
      <p:sp>
        <p:nvSpPr>
          <p:cNvPr id="6" name="cover-title-3">
            <a:extLst xmlns:a="http://schemas.openxmlformats.org/drawingml/2006/main">
              <a:ext uri="{FF2B5EF4-FFF2-40B4-BE49-F238E27FC236}">
                <a16:creationId xmlns:a16="http://schemas.microsoft.com/office/drawing/2014/main" id="{95997A4A-4C1D-4E9F-BB4D-88E6EA6C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6286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7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一起买好。</a:t>
            </a:r>
          </a:p>
        </p:txBody>
      </p:sp>
      <p:sp>
        <p:nvSpPr>
          <p:cNvPr id="7" name="product-definition">
            <a:extLst xmlns:a="http://schemas.openxmlformats.org/drawingml/2006/main">
              <a:ext uri="{FF2B5EF4-FFF2-40B4-BE49-F238E27FC236}">
                <a16:creationId xmlns:a16="http://schemas.microsoft.com/office/drawing/2014/main" id="{FEA0D652-0C5E-4550-ABA8-F570B740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00675"/>
            <a:ext cx="6191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支持代买的限量 Pass 发售页</a:t>
            </a:r>
          </a:p>
        </p:txBody>
      </p:sp>
      <p:sp>
        <p:nvSpPr>
          <p:cNvPr id="8" name="network">
            <a:extLst xmlns:a="http://schemas.openxmlformats.org/drawingml/2006/main">
              <a:ext uri="{FF2B5EF4-FFF2-40B4-BE49-F238E27FC236}">
                <a16:creationId xmlns:a16="http://schemas.microsoft.com/office/drawing/2014/main" id="{FC9E8B17-30E3-49EE-938B-FF081C5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531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Monad Testnet 演示</a:t>
            </a:r>
          </a:p>
        </p:txBody>
      </p:sp>
      <p:sp>
        <p:nvSpPr>
          <p:cNvPr id="10" name="builders">
            <a:extLst xmlns:a="http://schemas.openxmlformats.org/drawingml/2006/main">
              <a:ext uri="{FF2B5EF4-FFF2-40B4-BE49-F238E27FC236}">
                <a16:creationId xmlns:a16="http://schemas.microsoft.com/office/drawing/2014/main" id="{A6E7FF81-0DFC-4C9A-9315-CCAD4E2F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436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Builders  leila, kiira, JZ</a:t>
            </a:r>
          </a:p>
        </p:txBody>
      </p:sp>
    </p:spTree>
    <p:extLst>
      <p:ext uri="{BB962C8B-B14F-4D97-AF65-F5344CB8AC3E}">
        <p14:creationId xmlns:p14="http://schemas.microsoft.com/office/powerpoint/2010/main" val="10419843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CEDE4F-7463-48E3-B0A8-950EDDBF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一笔订单，最多 5 人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4C5C6A5-F5E9-4DED-8B9D-B94A7E65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只需付款人操作，接收者无需签名或领取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91bf92eb44f68"/>
          <a:stretch xmlns:a="http://schemas.openxmlformats.org/drawingml/2006/main"/>
        </p:blipFill>
        <p:spPr>
          <a:xfrm xmlns:a="http://schemas.openxmlformats.org/drawingml/2006/main">
            <a:off x="6000750" y="1981200"/>
            <a:ext cx="5562600" cy="4171950"/>
          </a:xfrm>
          <a:prstGeom xmlns:a="http://schemas.openxmlformats.org/drawingml/2006/main" prst="rect">
            <a:avLst/>
          </a:prstGeom>
        </p:spPr>
      </p:pic>
      <p:sp>
        <p:nvSpPr>
          <p:cNvPr id="4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928D7E0E-A2EB-408E-BCCD-86A4D1BC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5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70D277B4-CD38-496B-BAD8-8AED4DF8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1812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填写接收地址</a:t>
            </a:r>
          </a:p>
        </p:txBody>
      </p:sp>
      <p:sp>
        <p:nvSpPr>
          <p:cNvPr id="6" name="step-0-body">
            <a:extLst xmlns:a="http://schemas.openxmlformats.org/drawingml/2006/main">
              <a:ext uri="{FF2B5EF4-FFF2-40B4-BE49-F238E27FC236}">
                <a16:creationId xmlns:a16="http://schemas.microsoft.com/office/drawing/2014/main" id="{50162E12-D9D9-4722-B393-9F070CC9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67652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每行一个地址，同单不可重复</a:t>
            </a:r>
          </a:p>
        </p:txBody>
      </p:sp>
      <p:sp>
        <p:nvSpPr>
          <p:cNvPr id="7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D6C20A31-F69A-45D3-8D0B-6626C923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8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54AD9CB4-CBD0-45A8-8711-BE160000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2861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支付整单票款</a:t>
            </a:r>
          </a:p>
        </p:txBody>
      </p:sp>
      <p:sp>
        <p:nvSpPr>
          <p:cNvPr id="9" name="step-1-body">
            <a:extLst xmlns:a="http://schemas.openxmlformats.org/drawingml/2006/main">
              <a:ext uri="{FF2B5EF4-FFF2-40B4-BE49-F238E27FC236}">
                <a16:creationId xmlns:a16="http://schemas.microsoft.com/office/drawing/2014/main" id="{90E7E1D9-EAC9-472C-A79E-20BA2632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78142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一个钱包确认一笔交易</a:t>
            </a:r>
          </a:p>
        </p:txBody>
      </p:sp>
      <p:sp>
        <p:nvSpPr>
          <p:cNvPr id="10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3192268C-A9CE-4E94-B24C-6EA5201D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1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57E20A0D-3E37-42C2-A2C5-B7D65229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3910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Pass 直接到账</a:t>
            </a:r>
          </a:p>
        </p:txBody>
      </p:sp>
      <p:sp>
        <p:nvSpPr>
          <p:cNvPr id="12" name="step-2-body">
            <a:extLst xmlns:a="http://schemas.openxmlformats.org/drawingml/2006/main">
              <a:ext uri="{FF2B5EF4-FFF2-40B4-BE49-F238E27FC236}">
                <a16:creationId xmlns:a16="http://schemas.microsoft.com/office/drawing/2014/main" id="{98241DCA-7E57-421A-95F9-CF6BF8B3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88632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每个地址各收一枚，可转让</a:t>
            </a:r>
          </a:p>
        </p:txBody>
      </p:sp>
      <p:sp>
        <p:nvSpPr>
          <p:cNvPr id="13" name="atomicity">
            <a:extLst xmlns:a="http://schemas.openxmlformats.org/drawingml/2006/main">
              <a:ext uri="{FF2B5EF4-FFF2-40B4-BE49-F238E27FC236}">
                <a16:creationId xmlns:a16="http://schemas.microsoft.com/office/drawing/2014/main" id="{020A431A-4E45-49C8-83FD-192252D3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名额不足，整单回滚</a:t>
            </a:r>
          </a:p>
        </p:txBody>
      </p:sp>
      <p:sp>
        <p:nvSpPr>
          <p:cNvPr id="14" name="gas-note">
            <a:extLst xmlns:a="http://schemas.openxmlformats.org/drawingml/2006/main">
              <a:ext uri="{FF2B5EF4-FFF2-40B4-BE49-F238E27FC236}">
                <a16:creationId xmlns:a16="http://schemas.microsoft.com/office/drawing/2014/main" id="{5C5FDCF1-83B2-4486-B6DC-4D7786D2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失败交易仍可能消耗网络费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D40761-A2EF-411D-8889-5006AEF6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912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09800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2ECC72-AEC4-44FB-AEC0-D60B8E5D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67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成交金额，按 99% / 1% 分配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21A6F7-732C-4B70-B0C4-909FBD12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成交后先记账，主办方与平台分别提款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28c75466744ae"/>
          <a:stretch xmlns:a="http://schemas.openxmlformats.org/drawingml/2006/main"/>
        </p:blipFill>
        <p:spPr>
          <a:xfrm xmlns:a="http://schemas.openxmlformats.org/drawingml/2006/main">
            <a:off x="304800" y="1895475"/>
            <a:ext cx="3543300" cy="4724400"/>
          </a:xfrm>
          <a:prstGeom xmlns:a="http://schemas.openxmlformats.org/drawingml/2006/main" prst="rect">
            <a:avLst/>
          </a:prstGeom>
        </p:spPr>
      </p:pic>
      <p:sp>
        <p:nvSpPr>
          <p:cNvPr id="4" name="organizer-rate">
            <a:extLst xmlns:a="http://schemas.openxmlformats.org/drawingml/2006/main">
              <a:ext uri="{FF2B5EF4-FFF2-40B4-BE49-F238E27FC236}">
                <a16:creationId xmlns:a16="http://schemas.microsoft.com/office/drawing/2014/main" id="{EDAE15A0-CBA8-49CE-8C64-09EA4EDF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09775"/>
            <a:ext cx="3524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00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9300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99%</a:t>
            </a:r>
          </a:p>
        </p:txBody>
      </p:sp>
      <p:sp>
        <p:nvSpPr>
          <p:cNvPr id="5" name="platform-rate">
            <a:extLst xmlns:a="http://schemas.openxmlformats.org/drawingml/2006/main">
              <a:ext uri="{FF2B5EF4-FFF2-40B4-BE49-F238E27FC236}">
                <a16:creationId xmlns:a16="http://schemas.microsoft.com/office/drawing/2014/main" id="{787353FF-A2B2-4DBA-B02E-B125C07E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09775"/>
            <a:ext cx="3000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0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930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1%</a:t>
            </a:r>
          </a:p>
        </p:txBody>
      </p:sp>
      <p:sp>
        <p:nvSpPr>
          <p:cNvPr id="6" name="organizer-role">
            <a:extLst xmlns:a="http://schemas.openxmlformats.org/drawingml/2006/main">
              <a:ext uri="{FF2B5EF4-FFF2-40B4-BE49-F238E27FC236}">
                <a16:creationId xmlns:a16="http://schemas.microsoft.com/office/drawing/2014/main" id="{9F0E8933-5EE3-497D-9D14-C851D0C3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3337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主办方</a:t>
            </a:r>
          </a:p>
        </p:txBody>
      </p:sp>
      <p:sp>
        <p:nvSpPr>
          <p:cNvPr id="7" name="platform-role">
            <a:extLst xmlns:a="http://schemas.openxmlformats.org/drawingml/2006/main">
              <a:ext uri="{FF2B5EF4-FFF2-40B4-BE49-F238E27FC236}">
                <a16:creationId xmlns:a16="http://schemas.microsoft.com/office/drawing/2014/main" id="{F89172D1-E971-4A7A-8C02-DC78E1F7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33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平台</a:t>
            </a:r>
          </a:p>
        </p:txBody>
      </p:sp>
      <p:sp>
        <p:nvSpPr>
          <p:cNvPr id="8" name="order-example">
            <a:extLst xmlns:a="http://schemas.openxmlformats.org/drawingml/2006/main">
              <a:ext uri="{FF2B5EF4-FFF2-40B4-BE49-F238E27FC236}">
                <a16:creationId xmlns:a16="http://schemas.microsoft.com/office/drawing/2014/main" id="{FB137813-C725-4EEF-943E-06D62A1B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029075"/>
            <a:ext cx="704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算例：3 张 × 0.01 MON = 0.03 MON</a:t>
            </a:r>
          </a:p>
        </p:txBody>
      </p:sp>
      <p:sp>
        <p:nvSpPr>
          <p:cNvPr id="9" name="organizer-amount">
            <a:extLst xmlns:a="http://schemas.openxmlformats.org/drawingml/2006/main">
              <a:ext uri="{FF2B5EF4-FFF2-40B4-BE49-F238E27FC236}">
                <a16:creationId xmlns:a16="http://schemas.microsoft.com/office/drawing/2014/main" id="{3E498437-CA42-4FC7-8FB4-B76A4797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3657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352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0.0297 MON</a:t>
            </a:r>
          </a:p>
        </p:txBody>
      </p:sp>
      <p:sp>
        <p:nvSpPr>
          <p:cNvPr id="10" name="platform-amount">
            <a:extLst xmlns:a="http://schemas.openxmlformats.org/drawingml/2006/main">
              <a:ext uri="{FF2B5EF4-FFF2-40B4-BE49-F238E27FC236}">
                <a16:creationId xmlns:a16="http://schemas.microsoft.com/office/drawing/2014/main" id="{C386BF68-F4DB-4EFD-8F22-CC44A9D0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30765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35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0.0003 MON</a:t>
            </a:r>
          </a:p>
        </p:txBody>
      </p:sp>
      <p:sp>
        <p:nvSpPr>
          <p:cNvPr id="11" name="organizer-balance">
            <a:extLst xmlns:a="http://schemas.openxmlformats.org/drawingml/2006/main">
              <a:ext uri="{FF2B5EF4-FFF2-40B4-BE49-F238E27FC236}">
                <a16:creationId xmlns:a16="http://schemas.microsoft.com/office/drawing/2014/main" id="{3549AB47-7481-48C8-9483-31BB24DD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267325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主办方待提款</a:t>
            </a:r>
          </a:p>
        </p:txBody>
      </p:sp>
      <p:sp>
        <p:nvSpPr>
          <p:cNvPr id="12" name="platform-balance">
            <a:extLst xmlns:a="http://schemas.openxmlformats.org/drawingml/2006/main">
              <a:ext uri="{FF2B5EF4-FFF2-40B4-BE49-F238E27FC236}">
                <a16:creationId xmlns:a16="http://schemas.microsoft.com/office/drawing/2014/main" id="{FC9AB73A-F682-4F37-92DF-9BE2039C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267325"/>
            <a:ext cx="276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平台待提款</a:t>
            </a:r>
          </a:p>
        </p:txBody>
      </p:sp>
      <p:sp>
        <p:nvSpPr>
          <p:cNvPr id="13" name="fee-rule">
            <a:extLst xmlns:a="http://schemas.openxmlformats.org/drawingml/2006/main">
              <a:ext uri="{FF2B5EF4-FFF2-40B4-BE49-F238E27FC236}">
                <a16:creationId xmlns:a16="http://schemas.microsoft.com/office/drawing/2014/main" id="{D55BAA56-C6EC-487F-B38F-A96C2661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915025"/>
            <a:ext cx="714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平台费从成交额中扣除，买家无需另付。</a:t>
            </a:r>
          </a:p>
        </p:txBody>
      </p:sp>
      <p:sp>
        <p:nvSpPr>
          <p:cNvPr id="14" name="gas-note">
            <a:extLst xmlns:a="http://schemas.openxmlformats.org/drawingml/2006/main">
              <a:ext uri="{FF2B5EF4-FFF2-40B4-BE49-F238E27FC236}">
                <a16:creationId xmlns:a16="http://schemas.microsoft.com/office/drawing/2014/main" id="{F1EF518A-9838-4380-84ED-8DE661E8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63341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以上金额均为测试 MON，网络费另计。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A484FD-BC81-41CB-B4BC-6056AE8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912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37740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DB6AB8-2CFE-4616-B4D5-D091BBE6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0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675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技术栈：交易在 Monad 上完成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C9FA062-6281-4ABE-BED3-988A3F92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测试 MON 支付票款与 Gas，库存和收入直接记在链上</a:t>
            </a:r>
          </a:p>
        </p:txBody>
      </p:sp>
      <p:sp>
        <p:nvSpPr>
          <p:cNvPr id="3" name="frontend-stack">
            <a:extLst xmlns:a="http://schemas.openxmlformats.org/drawingml/2006/main">
              <a:ext uri="{FF2B5EF4-FFF2-40B4-BE49-F238E27FC236}">
                <a16:creationId xmlns:a16="http://schemas.microsoft.com/office/drawing/2014/main" id="{8C66F4BF-4084-48E2-9042-5743026A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5238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React + TypeScript + Vite</a:t>
            </a:r>
          </a:p>
        </p:txBody>
      </p:sp>
      <p:sp>
        <p:nvSpPr>
          <p:cNvPr id="4" name="chain-libraries">
            <a:extLst xmlns:a="http://schemas.openxmlformats.org/drawingml/2006/main">
              <a:ext uri="{FF2B5EF4-FFF2-40B4-BE49-F238E27FC236}">
                <a16:creationId xmlns:a16="http://schemas.microsoft.com/office/drawing/2014/main" id="{869915C5-D7B8-43BE-995F-7BDC748D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47975"/>
            <a:ext cx="5286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wagmi + viem + TanStack Query</a:t>
            </a:r>
          </a:p>
        </p:txBody>
      </p:sp>
      <p:sp>
        <p:nvSpPr>
          <p:cNvPr id="5" name="frontend-purpose">
            <a:extLst xmlns:a="http://schemas.openxmlformats.org/drawingml/2006/main">
              <a:ext uri="{FF2B5EF4-FFF2-40B4-BE49-F238E27FC236}">
                <a16:creationId xmlns:a16="http://schemas.microsoft.com/office/drawing/2014/main" id="{AD46A8A2-D026-4140-A972-455B69AB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0517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钱包连接、合约调用与状态刷新</a:t>
            </a:r>
          </a:p>
        </p:txBody>
      </p:sp>
      <p:sp>
        <p:nvSpPr>
          <p:cNvPr id="6" name="contract-stack">
            <a:extLst xmlns:a="http://schemas.openxmlformats.org/drawingml/2006/main">
              <a:ext uri="{FF2B5EF4-FFF2-40B4-BE49-F238E27FC236}">
                <a16:creationId xmlns:a16="http://schemas.microsoft.com/office/drawing/2014/main" id="{2F3C9E25-19AF-4D3A-82A6-7F43959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33825"/>
            <a:ext cx="5238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Solidity + OpenZeppelin</a:t>
            </a:r>
          </a:p>
        </p:txBody>
      </p:sp>
      <p:sp>
        <p:nvSpPr>
          <p:cNvPr id="7" name="contract-purpose">
            <a:extLst xmlns:a="http://schemas.openxmlformats.org/drawingml/2006/main">
              <a:ext uri="{FF2B5EF4-FFF2-40B4-BE49-F238E27FC236}">
                <a16:creationId xmlns:a16="http://schemas.microsoft.com/office/drawing/2014/main" id="{8D20A47D-219A-4294-B068-B09428DA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38650"/>
            <a:ext cx="5286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CoDropPass 承载发证、库存与结算</a:t>
            </a:r>
          </a:p>
        </p:txBody>
      </p:sp>
      <p:sp>
        <p:nvSpPr>
          <p:cNvPr id="8" name="deployment-stack">
            <a:extLst xmlns:a="http://schemas.openxmlformats.org/drawingml/2006/main">
              <a:ext uri="{FF2B5EF4-FFF2-40B4-BE49-F238E27FC236}">
                <a16:creationId xmlns:a16="http://schemas.microsoft.com/office/drawing/2014/main" id="{6AD14C3B-265C-4F38-88E1-765F1AAD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523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277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Foundry</a:t>
            </a:r>
          </a:p>
        </p:txBody>
      </p:sp>
      <p:sp>
        <p:nvSpPr>
          <p:cNvPr id="9" name="deployment-purpose">
            <a:extLst xmlns:a="http://schemas.openxmlformats.org/drawingml/2006/main">
              <a:ext uri="{FF2B5EF4-FFF2-40B4-BE49-F238E27FC236}">
                <a16:creationId xmlns:a16="http://schemas.microsoft.com/office/drawing/2014/main" id="{47E95556-97AE-4795-89BE-91CB3969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62600"/>
            <a:ext cx="528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启用 Monad 执行环境测试与部署</a:t>
            </a:r>
          </a:p>
        </p:txBody>
      </p:sp>
      <p:sp>
        <p:nvSpPr>
          <p:cNvPr id="10" name="monad-title">
            <a:extLst xmlns:a="http://schemas.openxmlformats.org/drawingml/2006/main">
              <a:ext uri="{FF2B5EF4-FFF2-40B4-BE49-F238E27FC236}">
                <a16:creationId xmlns:a16="http://schemas.microsoft.com/office/drawing/2014/main" id="{CD35D5B3-4B5C-4D75-8324-BBED80BA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33600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defRPr>
            </a:pPr>
            <a:r>
              <a:rPr sz="4425" b="1">
                <a:solidFill>
                  <a:srgbClr val="263E99"/>
                </a:solidFill>
                <a:latin typeface="Arial Narrow"/>
                <a:ea typeface="Arial Narrow"/>
                <a:cs typeface="Arial Narrow"/>
              </a:rPr>
              <a:t>Monad Testnet</a:t>
            </a:r>
          </a:p>
        </p:txBody>
      </p:sp>
      <p:sp>
        <p:nvSpPr>
          <p:cNvPr id="11" name="chain-id">
            <a:extLst xmlns:a="http://schemas.openxmlformats.org/drawingml/2006/main">
              <a:ext uri="{FF2B5EF4-FFF2-40B4-BE49-F238E27FC236}">
                <a16:creationId xmlns:a16="http://schemas.microsoft.com/office/drawing/2014/main" id="{18E17802-DB29-4BFB-8F10-52D1AFA2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384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Chain ID 10143</a:t>
            </a:r>
          </a:p>
        </p:txBody>
      </p:sp>
      <p:sp>
        <p:nvSpPr>
          <p:cNvPr id="12" name="monad-0-number">
            <a:extLst xmlns:a="http://schemas.openxmlformats.org/drawingml/2006/main">
              <a:ext uri="{FF2B5EF4-FFF2-40B4-BE49-F238E27FC236}">
                <a16:creationId xmlns:a16="http://schemas.microsoft.com/office/drawing/2014/main" id="{97397132-4E6A-45EB-A316-DED6A6CF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52800"/>
            <a:ext cx="4476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3" name="monad-0-title">
            <a:extLst xmlns:a="http://schemas.openxmlformats.org/drawingml/2006/main">
              <a:ext uri="{FF2B5EF4-FFF2-40B4-BE49-F238E27FC236}">
                <a16:creationId xmlns:a16="http://schemas.microsoft.com/office/drawing/2014/main" id="{9F57D58C-33A4-4005-81C7-4D04B34F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52800"/>
            <a:ext cx="4552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MetaMask 切换到测试网</a:t>
            </a:r>
          </a:p>
        </p:txBody>
      </p:sp>
      <p:sp>
        <p:nvSpPr>
          <p:cNvPr id="14" name="monad-0-body">
            <a:extLst xmlns:a="http://schemas.openxmlformats.org/drawingml/2006/main">
              <a:ext uri="{FF2B5EF4-FFF2-40B4-BE49-F238E27FC236}">
                <a16:creationId xmlns:a16="http://schemas.microsoft.com/office/drawing/2014/main" id="{78514446-A25D-465E-995E-55FED78F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004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通过 Monad RPC 读取库存与余额</a:t>
            </a:r>
          </a:p>
        </p:txBody>
      </p:sp>
      <p:sp>
        <p:nvSpPr>
          <p:cNvPr id="15" name="monad-1-number">
            <a:extLst xmlns:a="http://schemas.openxmlformats.org/drawingml/2006/main">
              <a:ext uri="{FF2B5EF4-FFF2-40B4-BE49-F238E27FC236}">
                <a16:creationId xmlns:a16="http://schemas.microsoft.com/office/drawing/2014/main" id="{E2D8D07F-BF4A-4669-AA5A-FE44A325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52925"/>
            <a:ext cx="4476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monad-1-title">
            <a:extLst xmlns:a="http://schemas.openxmlformats.org/drawingml/2006/main">
              <a:ext uri="{FF2B5EF4-FFF2-40B4-BE49-F238E27FC236}">
                <a16:creationId xmlns:a16="http://schemas.microsoft.com/office/drawing/2014/main" id="{5529BF35-A954-454D-AC67-CB3B57C3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52925"/>
            <a:ext cx="4552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buy() 完成整单购买与发证</a:t>
            </a:r>
          </a:p>
        </p:txBody>
      </p:sp>
      <p:sp>
        <p:nvSpPr>
          <p:cNvPr id="17" name="monad-1-body">
            <a:extLst xmlns:a="http://schemas.openxmlformats.org/drawingml/2006/main">
              <a:ext uri="{FF2B5EF4-FFF2-40B4-BE49-F238E27FC236}">
                <a16:creationId xmlns:a16="http://schemas.microsoft.com/office/drawing/2014/main" id="{69D804B3-00A1-4BD8-A7C4-C4F83FE5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006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扣库存、发 NFT、记账，失败则回滚</a:t>
            </a:r>
          </a:p>
        </p:txBody>
      </p:sp>
      <p:sp>
        <p:nvSpPr>
          <p:cNvPr id="18" name="monad-2-number">
            <a:extLst xmlns:a="http://schemas.openxmlformats.org/drawingml/2006/main">
              <a:ext uri="{FF2B5EF4-FFF2-40B4-BE49-F238E27FC236}">
                <a16:creationId xmlns:a16="http://schemas.microsoft.com/office/drawing/2014/main" id="{F37D34A9-8306-4826-952F-69E4E92D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353050"/>
            <a:ext cx="4476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E55D2B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monad-2-title">
            <a:extLst xmlns:a="http://schemas.openxmlformats.org/drawingml/2006/main">
              <a:ext uri="{FF2B5EF4-FFF2-40B4-BE49-F238E27FC236}">
                <a16:creationId xmlns:a16="http://schemas.microsoft.com/office/drawing/2014/main" id="{3089D80E-D891-47EE-98C4-922FB887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353050"/>
            <a:ext cx="4552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等待 finalized 后显示成功</a:t>
            </a:r>
          </a:p>
        </p:txBody>
      </p:sp>
      <p:sp>
        <p:nvSpPr>
          <p:cNvPr id="20" name="monad-2-body">
            <a:extLst xmlns:a="http://schemas.openxmlformats.org/drawingml/2006/main">
              <a:ext uri="{FF2B5EF4-FFF2-40B4-BE49-F238E27FC236}">
                <a16:creationId xmlns:a16="http://schemas.microsoft.com/office/drawing/2014/main" id="{E6A05091-4870-4ACC-94F4-F1063D10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80072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977A1"/>
                </a:solidFill>
                <a:latin typeface="Hiragino Sans GB"/>
                <a:ea typeface="Hiragino Sans GB"/>
                <a:cs typeface="Hiragino Sans GB"/>
              </a:rPr>
              <a:t>确认区块已最终确定，再刷新链上数据</a:t>
            </a:r>
          </a:p>
        </p:txBody>
      </p:sp>
      <p:sp>
        <p:nvSpPr>
          <p:cNvPr id="21" name="architecture-scope">
            <a:extLst xmlns:a="http://schemas.openxmlformats.org/drawingml/2006/main">
              <a:ext uri="{FF2B5EF4-FFF2-40B4-BE49-F238E27FC236}">
                <a16:creationId xmlns:a16="http://schemas.microsoft.com/office/drawing/2014/main" id="{B36A99A6-5C67-4C4C-9ED1-BB19F607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9602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63E99"/>
                </a:solidFill>
                <a:latin typeface="Hiragino Sans GB"/>
                <a:ea typeface="Hiragino Sans GB"/>
                <a:cs typeface="Hiragino Sans GB"/>
              </a:rPr>
              <a:t>一个业务合约，无需后端数据库</a:t>
            </a:r>
          </a:p>
        </p:txBody>
      </p:sp>
      <p:sp>
        <p:nvSpPr>
          <p:cNvPr id="2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13C6E6-B7E1-4095-948B-93C8820D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912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6977A1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696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63E9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94BFF1-F275-4FA3-B82A-F5EF75C5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35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当前进展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252C46A-6248-4607-93DD-4C49492C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15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已部署至 Monad 测试网，完整验收仍在继续</a:t>
            </a:r>
          </a:p>
        </p:txBody>
      </p:sp>
      <p:sp>
        <p:nvSpPr>
          <p:cNvPr id="3" name="complete-label">
            <a:extLst xmlns:a="http://schemas.openxmlformats.org/drawingml/2006/main">
              <a:ext uri="{FF2B5EF4-FFF2-40B4-BE49-F238E27FC236}">
                <a16:creationId xmlns:a16="http://schemas.microsoft.com/office/drawing/2014/main" id="{80B2C74C-0D9E-49AE-93F8-1E30A3CC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52675"/>
            <a:ext cx="4572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已完成</a:t>
            </a:r>
          </a:p>
        </p:txBody>
      </p:sp>
      <p:sp>
        <p:nvSpPr>
          <p:cNvPr id="4" name="pending-label">
            <a:extLst xmlns:a="http://schemas.openxmlformats.org/drawingml/2006/main">
              <a:ext uri="{FF2B5EF4-FFF2-40B4-BE49-F238E27FC236}">
                <a16:creationId xmlns:a16="http://schemas.microsoft.com/office/drawing/2014/main" id="{ED479E3C-7EDC-4F61-BB75-9A3EC419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352675"/>
            <a:ext cx="4572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E55D2B"/>
                </a:solidFill>
                <a:latin typeface="Hiragino Sans GB"/>
                <a:ea typeface="Hiragino Sans GB"/>
                <a:cs typeface="Hiragino Sans GB"/>
              </a:rPr>
              <a:t>待验收</a:t>
            </a:r>
          </a:p>
        </p:txBody>
      </p:sp>
      <p:sp>
        <p:nvSpPr>
          <p:cNvPr id="5" name="deployed">
            <a:extLst xmlns:a="http://schemas.openxmlformats.org/drawingml/2006/main">
              <a:ext uri="{FF2B5EF4-FFF2-40B4-BE49-F238E27FC236}">
                <a16:creationId xmlns:a16="http://schemas.microsoft.com/office/drawing/2014/main" id="{27A4D9BA-7E57-49A9-BBC0-29948D1B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28950"/>
            <a:ext cx="5286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页面与合约已部署</a:t>
            </a:r>
          </a:p>
        </p:txBody>
      </p:sp>
      <p:sp>
        <p:nvSpPr>
          <p:cNvPr id="6" name="verified">
            <a:extLst xmlns:a="http://schemas.openxmlformats.org/drawingml/2006/main">
              <a:ext uri="{FF2B5EF4-FFF2-40B4-BE49-F238E27FC236}">
                <a16:creationId xmlns:a16="http://schemas.microsoft.com/office/drawing/2014/main" id="{0B5473D8-E197-4CDC-BF46-9C15E020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52825"/>
            <a:ext cx="528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合约源码已验证，可查看链上记录</a:t>
            </a:r>
          </a:p>
        </p:txBody>
      </p:sp>
      <p:sp>
        <p:nvSpPr>
          <p:cNvPr id="7" name="smoke">
            <a:extLst xmlns:a="http://schemas.openxmlformats.org/drawingml/2006/main">
              <a:ext uri="{FF2B5EF4-FFF2-40B4-BE49-F238E27FC236}">
                <a16:creationId xmlns:a16="http://schemas.microsoft.com/office/drawing/2014/main" id="{FB88B96C-53FE-4F74-8231-37AAC4CC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14825"/>
            <a:ext cx="5286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单人购买已跑通</a:t>
            </a:r>
          </a:p>
        </p:txBody>
      </p:sp>
      <p:sp>
        <p:nvSpPr>
          <p:cNvPr id="8" name="smoke-detail">
            <a:extLst xmlns:a="http://schemas.openxmlformats.org/drawingml/2006/main">
              <a:ext uri="{FF2B5EF4-FFF2-40B4-BE49-F238E27FC236}">
                <a16:creationId xmlns:a16="http://schemas.microsoft.com/office/drawing/2014/main" id="{67F73781-DE69-47FA-B41F-6637651C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38700"/>
            <a:ext cx="528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NFT 归属与分账读数已核对</a:t>
            </a:r>
          </a:p>
        </p:txBody>
      </p:sp>
      <p:sp>
        <p:nvSpPr>
          <p:cNvPr id="9" name="local-tests">
            <a:extLst xmlns:a="http://schemas.openxmlformats.org/drawingml/2006/main">
              <a:ext uri="{FF2B5EF4-FFF2-40B4-BE49-F238E27FC236}">
                <a16:creationId xmlns:a16="http://schemas.microsoft.com/office/drawing/2014/main" id="{EC59642B-A1E0-4533-84BD-C8A2B46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24475"/>
            <a:ext cx="542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库存与权限等保护项已做本地测试</a:t>
            </a:r>
          </a:p>
        </p:txBody>
      </p:sp>
      <p:sp>
        <p:nvSpPr>
          <p:cNvPr id="10" name="three-recipient">
            <a:extLst xmlns:a="http://schemas.openxmlformats.org/drawingml/2006/main">
              <a:ext uri="{FF2B5EF4-FFF2-40B4-BE49-F238E27FC236}">
                <a16:creationId xmlns:a16="http://schemas.microsoft.com/office/drawing/2014/main" id="{5F31CAB4-CB26-4DF5-A741-5CD2A593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28950"/>
            <a:ext cx="4810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3 个地址同笔购买</a:t>
            </a:r>
          </a:p>
        </p:txBody>
      </p:sp>
      <p:sp>
        <p:nvSpPr>
          <p:cNvPr id="11" name="three-recipient-detail">
            <a:extLst xmlns:a="http://schemas.openxmlformats.org/drawingml/2006/main">
              <a:ext uri="{FF2B5EF4-FFF2-40B4-BE49-F238E27FC236}">
                <a16:creationId xmlns:a16="http://schemas.microsoft.com/office/drawing/2014/main" id="{F3FA11CE-AFDB-4B11-B378-C1788EF0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552825"/>
            <a:ext cx="481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核对三枚 Pass、库存和账目</a:t>
            </a:r>
          </a:p>
        </p:txBody>
      </p:sp>
      <p:sp>
        <p:nvSpPr>
          <p:cNvPr id="12" name="withdraw">
            <a:extLst xmlns:a="http://schemas.openxmlformats.org/drawingml/2006/main">
              <a:ext uri="{FF2B5EF4-FFF2-40B4-BE49-F238E27FC236}">
                <a16:creationId xmlns:a16="http://schemas.microsoft.com/office/drawing/2014/main" id="{EEB72D7F-EF2A-42B8-A83B-E052E4EF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14825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主办方与平台分别提款</a:t>
            </a:r>
          </a:p>
        </p:txBody>
      </p:sp>
      <p:sp>
        <p:nvSpPr>
          <p:cNvPr id="13" name="withdraw-detail">
            <a:extLst xmlns:a="http://schemas.openxmlformats.org/drawingml/2006/main">
              <a:ext uri="{FF2B5EF4-FFF2-40B4-BE49-F238E27FC236}">
                <a16:creationId xmlns:a16="http://schemas.microsoft.com/office/drawing/2014/main" id="{395F454D-8762-413E-B249-EEF431D8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838700"/>
            <a:ext cx="481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补充两笔测试网提款记录</a:t>
            </a:r>
          </a:p>
        </p:txBody>
      </p:sp>
      <p:sp>
        <p:nvSpPr>
          <p:cNvPr id="14" name="scope">
            <a:extLst xmlns:a="http://schemas.openxmlformats.org/drawingml/2006/main">
              <a:ext uri="{FF2B5EF4-FFF2-40B4-BE49-F238E27FC236}">
                <a16:creationId xmlns:a16="http://schemas.microsoft.com/office/drawing/2014/main" id="{A18BB260-3D7D-4F90-87E8-59F848AB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05525"/>
            <a:ext cx="1052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FAFAF7"/>
                </a:solidFill>
                <a:latin typeface="Hiragino Sans GB"/>
                <a:ea typeface="Hiragino Sans GB"/>
                <a:cs typeface="Hiragino Sans GB"/>
              </a:rPr>
              <a:t>本版仅验证 Pass 发放与结算。退款、核销暂不支持。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B7D5C2-3B31-456C-8EFE-661E39FA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912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AFAF7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FAFAF7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60796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2026-09-05T10:46:58.4440000Z</dcterms:created>
  <dcterms:modified xsi:type="dcterms:W3CDTF">2026-09-05T10:46:58.4440000Z</dcterms:modified>
</coreProperties>
</file>