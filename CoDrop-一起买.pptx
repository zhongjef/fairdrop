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5c003f5914572" /><Relationship Type="http://schemas.openxmlformats.org/officeDocument/2006/relationships/extended-properties" Target="/docProps/app.xml" Id="R8db175d029b747ff" /><Relationship Type="http://schemas.openxmlformats.org/officeDocument/2006/relationships/officeDocument" Target="/ppt/presentation.xml" Id="R93d38ec5a021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cf3f1699840a7"/>
  </p:sldMasterIdLst>
  <p:notesMasterIdLst>
    <p:notesMasterId xmlns:r="http://schemas.openxmlformats.org/officeDocument/2006/relationships" r:id="R139c856699b942fc"/>
  </p:notesMasterIdLst>
  <p:sldIdLst>
    <p:sldId xmlns:r="http://schemas.openxmlformats.org/officeDocument/2006/relationships" id="256" r:id="Rcdd2389ff9e44fe4"/>
    <p:sldId xmlns:r="http://schemas.openxmlformats.org/officeDocument/2006/relationships" id="257" r:id="R9cf270fee5cc481f"/>
    <p:sldId xmlns:r="http://schemas.openxmlformats.org/officeDocument/2006/relationships" id="258" r:id="Rdb9486ec0b90402e"/>
    <p:sldId xmlns:r="http://schemas.openxmlformats.org/officeDocument/2006/relationships" id="259" r:id="R5b18888d095b41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942840fdf48e6" /><Relationship Type="http://schemas.openxmlformats.org/officeDocument/2006/relationships/slideMaster" Target="/ppt/slideMasters/slideMaster1.xml" Id="R191cf3f1699840a7" /><Relationship Type="http://schemas.openxmlformats.org/officeDocument/2006/relationships/notesMaster" Target="/ppt/notesMasters/notesMaster1.xml" Id="R139c856699b942fc" /><Relationship Type="http://schemas.openxmlformats.org/officeDocument/2006/relationships/presProps" Target="/ppt/presProps.xml" Id="R133eb4c66b054c08" /><Relationship Type="http://schemas.openxmlformats.org/officeDocument/2006/relationships/tableStyles" Target="/ppt/tableStyles.xml" Id="R1691f82af89c4dc3" /><Relationship Type="http://schemas.openxmlformats.org/officeDocument/2006/relationships/slide" Target="/ppt/slides/slide1.xml" Id="Rcdd2389ff9e44fe4" /><Relationship Type="http://schemas.openxmlformats.org/officeDocument/2006/relationships/slide" Target="/ppt/slides/slide2.xml" Id="R9cf270fee5cc481f" /><Relationship Type="http://schemas.openxmlformats.org/officeDocument/2006/relationships/slide" Target="/ppt/slides/slide3.xml" Id="Rdb9486ec0b90402e" /><Relationship Type="http://schemas.openxmlformats.org/officeDocument/2006/relationships/slide" Target="/ppt/slides/slide4.xml" Id="R5b18888d095b41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196f7bafaf4d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7884e897a14d59" /><Relationship Type="http://schemas.openxmlformats.org/officeDocument/2006/relationships/notesMaster" Target="/ppt/notesMasters/notesMaster1.xml" Id="R1c46a33c81f64f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ccc5de79ca4d11" /><Relationship Type="http://schemas.openxmlformats.org/officeDocument/2006/relationships/notesMaster" Target="/ppt/notesMasters/notesMaster1.xml" Id="Rc2193e2f5364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4e6e87df814a7b" /><Relationship Type="http://schemas.openxmlformats.org/officeDocument/2006/relationships/notesMaster" Target="/ppt/notesMasters/notesMaster1.xml" Id="Rd8abb91566ec4d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152ce7bbd04414" /><Relationship Type="http://schemas.openxmlformats.org/officeDocument/2006/relationships/notesMaster" Target="/ppt/notesMasters/notesMaster1.xml" Id="R9c9b8f808002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产品定位依据：docs/product-spec.md，第 1、2 节。一个付款钱包为 1–5 个接收地址购买 ERC-721 Pass。仓库名为 FairDrop，对外产品名为 CoDrop。页面风格来源：http://localhost:5173/，访问日期 2026-09-05；精确配色来自 src/style.css。封面图片原文件：public/codrop-editorial-hero.png。仅测试网 POC，不表示接入真实活动或具备主网商业售票能力。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功能规则依据：docs/product-spec.md，第 3–6 节。付款人可完全替别人购买。接收者无需在线、不需签名，也无需额外领取。接收地址表示最初收件人，不等同于确认参加。库存判断以链上执行为准。检查、扣库存、铸造、记账同笔完成，失败时整单回滚，不会部分发放，失败仍可能产生 Gas。图片为票券概念插画。完整三地址测试网购买仍待验收，见第 4 页及 docs/acceptance.md。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费率规则依据：docs/product-spec.md，第 7 节。平台收入 = 成交额 × 100 ÷ 10,000，向下取整，主办方获得余款。当前部署单价 0.01 MON 依据 docs/acceptance.md 的“当前部署”以及 README.md，不使用产品规格默认的每张 1 MON。演示算例并非已完成交易：3 × 0.01 = 0.03 MON；0.03 × 99% = 0.0297 MON；0.03 × 1% = 0.0003 MON。成功订单仅增加待提款账目，双方连接各自钱包发起提款，各自承担对应交易 Gas。图片为票根概念插画，不代表面积或长度比例。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进度依据：docs/acceptance.md，日期 2026-09-05，以及 README.md。当前测试网合约 0xB4Fdc79F2540DA2541FA74F4361B916b6B98c374，源码已验证，测试部署库存 1000 张、单价 0.01 MON。已完成单人烟雾测试发生在先前 5 张库存的合约 0xF96E3040989d94833D031a8d7a91393EBc6f4021；购买交易 https://testnet.monadvision.com/tx/0xff47f7cbc995a5ba5c235a1a46c9a27da5f7491eae739715191912f8f9eb3f7a。文档记载购买后已售 1、剩余 4，主办方待提款 0.0099 MON、平台 0.0001 MON，并经 RPC 独立核对。尚未完成 P01 三个地址同笔购买以及主办方、平台提款，不能把烟雾测试当作完整验收。docs/implementation-tasks.md 的 T02–T10 状态未同步到当前实现，因此以验收记录中具体证据界定本页进度。范围依据 docs/product-spec.md 第 12、13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27076b8e34e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78b45f9964285" /><Relationship Type="http://schemas.openxmlformats.org/officeDocument/2006/relationships/slideLayout" Target="/ppt/slideLayouts/slideLayout1.xml" Id="R4ad9b3007c4a47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d9b3007c4a47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64296bb794200" /><Relationship Type="http://schemas.openxmlformats.org/officeDocument/2006/relationships/image" Target="/ppt/media/image.png" Id="R53071859dcbb4f2c" /><Relationship Type="http://schemas.openxmlformats.org/officeDocument/2006/relationships/notesSlide" Target="/ppt/notesSlides/notesSlide1.xml" Id="R37f6bdcd28634f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315fdbc1f4794" /><Relationship Type="http://schemas.openxmlformats.org/officeDocument/2006/relationships/image" Target="/ppt/media/image2.png" Id="R3871dbf7abd7438c" /><Relationship Type="http://schemas.openxmlformats.org/officeDocument/2006/relationships/notesSlide" Target="/ppt/notesSlides/notesSlide2.xml" Id="R8cbe2c19df0240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c7bd3b0714959" /><Relationship Type="http://schemas.openxmlformats.org/officeDocument/2006/relationships/image" Target="/ppt/media/image3.png" Id="R38d9d5ac14174fd5" /><Relationship Type="http://schemas.openxmlformats.org/officeDocument/2006/relationships/notesSlide" Target="/ppt/notesSlides/notesSlide3.xml" Id="R8338dbeaff84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ec9a9307a4f9d" /><Relationship Type="http://schemas.openxmlformats.org/officeDocument/2006/relationships/notesSlide" Target="/ppt/notesSlides/notesSlide4.xml" Id="R4c88fd2411f4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71859dcbb4f2c"/>
          <a:stretch xmlns:a="http://schemas.openxmlformats.org/drawingml/2006/main"/>
        </p:blipFill>
        <p:spPr>
          <a:xfrm xmlns:a="http://schemas.openxmlformats.org/drawingml/2006/main">
            <a:off x="7239000" y="127000"/>
            <a:ext cx="4953000" cy="66040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662D25-A9DB-47A9-8A8C-33ADE2C2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95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63E99"/>
                </a:solidFill>
                <a:latin typeface="Arial Narrow"/>
                <a:ea typeface="Arial Narrow"/>
                <a:cs typeface="Arial Narrow"/>
              </a:defRPr>
            </a:pPr>
            <a:r>
              <a:rPr sz="4650" b="1">
                <a:solidFill>
                  <a:srgbClr val="263E99"/>
                </a:solidFill>
                <a:latin typeface="Arial Narrow"/>
                <a:ea typeface="Arial Narrow"/>
                <a:cs typeface="Arial Narrow"/>
              </a:rPr>
              <a:t>CoDrop</a:t>
            </a:r>
          </a:p>
        </p:txBody>
      </p:sp>
      <p:sp>
        <p:nvSpPr>
          <p:cNvPr id="3" name="brand-cn">
            <a:extLst xmlns:a="http://schemas.openxmlformats.org/drawingml/2006/main">
              <a:ext uri="{FF2B5EF4-FFF2-40B4-BE49-F238E27FC236}">
                <a16:creationId xmlns:a16="http://schemas.microsoft.com/office/drawing/2014/main" id="{597314F4-2814-4CD0-A655-B7CFF9D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762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rPr>
              <a:t>一起买</a:t>
            </a:r>
          </a:p>
        </p:txBody>
      </p:sp>
      <p:sp>
        <p:nvSpPr>
          <p:cNvPr id="4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3B0EF794-7A4E-44F0-94CF-DB40387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28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一次付款，</a:t>
            </a:r>
          </a:p>
        </p:txBody>
      </p:sp>
      <p:sp>
        <p:nvSpPr>
          <p:cNvPr id="5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3D151107-5E2E-43FF-A3BD-8FFA78E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628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帮朋友</a:t>
            </a:r>
          </a:p>
        </p:txBody>
      </p:sp>
      <p:sp>
        <p:nvSpPr>
          <p:cNvPr id="6" name="cover-title-3">
            <a:extLst xmlns:a="http://schemas.openxmlformats.org/drawingml/2006/main">
              <a:ext uri="{FF2B5EF4-FFF2-40B4-BE49-F238E27FC236}">
                <a16:creationId xmlns:a16="http://schemas.microsoft.com/office/drawing/2014/main" id="{95997A4A-4C1D-4E9F-BB4D-88E6EA6C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6286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一起买好。</a:t>
            </a:r>
          </a:p>
        </p:txBody>
      </p:sp>
      <p:sp>
        <p:nvSpPr>
          <p:cNvPr id="7" name="product-definition">
            <a:extLst xmlns:a="http://schemas.openxmlformats.org/drawingml/2006/main">
              <a:ext uri="{FF2B5EF4-FFF2-40B4-BE49-F238E27FC236}">
                <a16:creationId xmlns:a16="http://schemas.microsoft.com/office/drawing/2014/main" id="{FEA0D652-0C5E-4550-ABA8-F570B74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0067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支持代买的限量 Pass 发售页</a:t>
            </a:r>
          </a:p>
        </p:txBody>
      </p:sp>
      <p:sp>
        <p:nvSpPr>
          <p:cNvPr id="8" name="network">
            <a:extLst xmlns:a="http://schemas.openxmlformats.org/drawingml/2006/main">
              <a:ext uri="{FF2B5EF4-FFF2-40B4-BE49-F238E27FC236}">
                <a16:creationId xmlns:a16="http://schemas.microsoft.com/office/drawing/2014/main" id="{FC9E8B17-30E3-49EE-938B-FF081C5B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rPr>
              <a:t>Monad Testnet 演示</a:t>
            </a:r>
          </a:p>
        </p:txBody>
      </p:sp>
    </p:spTree>
    <p:extLst>
      <p:ext uri="{BB962C8B-B14F-4D97-AF65-F5344CB8AC3E}">
        <p14:creationId xmlns:p14="http://schemas.microsoft.com/office/powerpoint/2010/main" val="1041984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CEDE4F-7463-48E3-B0A8-950EDDB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一笔订单，最多 5 人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C5C6A5-F5E9-4DED-8B9D-B94A7E65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只需付款人操作，接收者无需签名或领取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1dbf7abd7438c"/>
          <a:stretch xmlns:a="http://schemas.openxmlformats.org/drawingml/2006/main"/>
        </p:blipFill>
        <p:spPr>
          <a:xfrm xmlns:a="http://schemas.openxmlformats.org/drawingml/2006/main">
            <a:off x="6000750" y="1981200"/>
            <a:ext cx="5562600" cy="4171950"/>
          </a:xfrm>
          <a:prstGeom xmlns:a="http://schemas.openxmlformats.org/drawingml/2006/main" prst="rect">
            <a:avLst/>
          </a:prstGeom>
        </p:spPr>
      </p:pic>
      <p:sp>
        <p:nvSpPr>
          <p:cNvPr id="4" name="step-0-number">
            <a:extLst xmlns:a="http://schemas.openxmlformats.org/drawingml/2006/main">
              <a:ext uri="{FF2B5EF4-FFF2-40B4-BE49-F238E27FC236}">
                <a16:creationId xmlns:a16="http://schemas.microsoft.com/office/drawing/2014/main" id="{928D7E0E-A2EB-408E-BCCD-86A4D1B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5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70D277B4-CD38-496B-BAD8-8AED4DF8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812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填写接收地址</a:t>
            </a:r>
          </a:p>
        </p:txBody>
      </p:sp>
      <p:sp>
        <p:nvSpPr>
          <p:cNvPr id="6" name="step-0-body">
            <a:extLst xmlns:a="http://schemas.openxmlformats.org/drawingml/2006/main">
              <a:ext uri="{FF2B5EF4-FFF2-40B4-BE49-F238E27FC236}">
                <a16:creationId xmlns:a16="http://schemas.microsoft.com/office/drawing/2014/main" id="{50162E12-D9D9-4722-B393-9F070CC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765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rPr>
              <a:t>每行一个地址，同单不可重复</a:t>
            </a:r>
          </a:p>
        </p:txBody>
      </p:sp>
      <p:sp>
        <p:nvSpPr>
          <p:cNvPr id="7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D6C20A31-F69A-45D3-8D0B-6626C923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8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54AD9CB4-CBD0-45A8-8711-BE160000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支付整单票款</a:t>
            </a:r>
          </a:p>
        </p:txBody>
      </p:sp>
      <p:sp>
        <p:nvSpPr>
          <p:cNvPr id="9" name="step-1-body">
            <a:extLst xmlns:a="http://schemas.openxmlformats.org/drawingml/2006/main">
              <a:ext uri="{FF2B5EF4-FFF2-40B4-BE49-F238E27FC236}">
                <a16:creationId xmlns:a16="http://schemas.microsoft.com/office/drawing/2014/main" id="{90E7E1D9-EAC9-472C-A79E-20BA2632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814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rPr>
              <a:t>一个钱包确认一笔交易</a:t>
            </a:r>
          </a:p>
        </p:txBody>
      </p:sp>
      <p:sp>
        <p:nvSpPr>
          <p:cNvPr id="10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3192268C-A9CE-4E94-B24C-6EA5201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1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57E20A0D-3E37-42C2-A2C5-B7D65229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910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Pass 直接到账</a:t>
            </a:r>
          </a:p>
        </p:txBody>
      </p:sp>
      <p:sp>
        <p:nvSpPr>
          <p:cNvPr id="12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8241DCA-7E57-421A-95F9-CF6BF8B3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863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rPr>
              <a:t>每个地址各收一枚，可转让</a:t>
            </a:r>
          </a:p>
        </p:txBody>
      </p:sp>
      <p:sp>
        <p:nvSpPr>
          <p:cNvPr id="13" name="atomicity">
            <a:extLst xmlns:a="http://schemas.openxmlformats.org/drawingml/2006/main">
              <a:ext uri="{FF2B5EF4-FFF2-40B4-BE49-F238E27FC236}">
                <a16:creationId xmlns:a16="http://schemas.microsoft.com/office/drawing/2014/main" id="{020A431A-4E45-49C8-83FD-192252D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rPr>
              <a:t>名额不足，整单回滚</a:t>
            </a:r>
          </a:p>
        </p:txBody>
      </p:sp>
      <p:sp>
        <p:nvSpPr>
          <p:cNvPr id="14" name="gas-note">
            <a:extLst xmlns:a="http://schemas.openxmlformats.org/drawingml/2006/main">
              <a:ext uri="{FF2B5EF4-FFF2-40B4-BE49-F238E27FC236}">
                <a16:creationId xmlns:a16="http://schemas.microsoft.com/office/drawing/2014/main" id="{5C5FDCF1-83B2-4486-B6DC-4D7786D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rPr>
              <a:t>失败交易仍可能消耗网络费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D40761-A2EF-411D-8889-5006AEF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912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7A1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6977A1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0980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2ECC72-AEC4-44FB-AEC0-D60B8E5D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成交金额，按 99% / 1% 分配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21A6F7-732C-4B70-B0C4-909FBD12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成交后先记账，主办方与平台分别提款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9d5ac14174fd5"/>
          <a:stretch xmlns:a="http://schemas.openxmlformats.org/drawingml/2006/main"/>
        </p:blipFill>
        <p:spPr>
          <a:xfrm xmlns:a="http://schemas.openxmlformats.org/drawingml/2006/main">
            <a:off x="304800" y="1895475"/>
            <a:ext cx="35433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organizer-rate">
            <a:extLst xmlns:a="http://schemas.openxmlformats.org/drawingml/2006/main">
              <a:ext uri="{FF2B5EF4-FFF2-40B4-BE49-F238E27FC236}">
                <a16:creationId xmlns:a16="http://schemas.microsoft.com/office/drawing/2014/main" id="{EDAE15A0-CBA8-49CE-8C64-09EA4EDF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9775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263E99"/>
                </a:solidFill>
                <a:latin typeface="Arial Narrow"/>
                <a:ea typeface="Arial Narrow"/>
                <a:cs typeface="Arial Narrow"/>
              </a:defRPr>
            </a:pPr>
            <a:r>
              <a:rPr sz="9300" b="1">
                <a:solidFill>
                  <a:srgbClr val="263E99"/>
                </a:solidFill>
                <a:latin typeface="Arial Narrow"/>
                <a:ea typeface="Arial Narrow"/>
                <a:cs typeface="Arial Narrow"/>
              </a:rPr>
              <a:t>99%</a:t>
            </a:r>
          </a:p>
        </p:txBody>
      </p:sp>
      <p:sp>
        <p:nvSpPr>
          <p:cNvPr id="5" name="platform-rate">
            <a:extLst xmlns:a="http://schemas.openxmlformats.org/drawingml/2006/main">
              <a:ext uri="{FF2B5EF4-FFF2-40B4-BE49-F238E27FC236}">
                <a16:creationId xmlns:a16="http://schemas.microsoft.com/office/drawing/2014/main" id="{787353FF-A2B2-4DBA-B02E-B125C07E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9775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defRPr>
            </a:pPr>
            <a:r>
              <a:rPr sz="9300" b="1">
                <a:solidFill>
                  <a:srgbClr val="E55D2B"/>
                </a:solidFill>
                <a:latin typeface="Arial Narrow"/>
                <a:ea typeface="Arial Narrow"/>
                <a:cs typeface="Arial Narrow"/>
              </a:rPr>
              <a:t>1%</a:t>
            </a:r>
          </a:p>
        </p:txBody>
      </p:sp>
      <p:sp>
        <p:nvSpPr>
          <p:cNvPr id="6" name="organizer-role">
            <a:extLst xmlns:a="http://schemas.openxmlformats.org/drawingml/2006/main">
              <a:ext uri="{FF2B5EF4-FFF2-40B4-BE49-F238E27FC236}">
                <a16:creationId xmlns:a16="http://schemas.microsoft.com/office/drawing/2014/main" id="{9F0E8933-5EE3-497D-9D14-C851D0C3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主办方</a:t>
            </a:r>
          </a:p>
        </p:txBody>
      </p:sp>
      <p:sp>
        <p:nvSpPr>
          <p:cNvPr id="7" name="platform-role">
            <a:extLst xmlns:a="http://schemas.openxmlformats.org/drawingml/2006/main">
              <a:ext uri="{FF2B5EF4-FFF2-40B4-BE49-F238E27FC236}">
                <a16:creationId xmlns:a16="http://schemas.microsoft.com/office/drawing/2014/main" id="{F89172D1-E971-4A7A-8C02-DC78E1F7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rPr>
              <a:t>平台</a:t>
            </a:r>
          </a:p>
        </p:txBody>
      </p:sp>
      <p:sp>
        <p:nvSpPr>
          <p:cNvPr id="8" name="order-example">
            <a:extLst xmlns:a="http://schemas.openxmlformats.org/drawingml/2006/main">
              <a:ext uri="{FF2B5EF4-FFF2-40B4-BE49-F238E27FC236}">
                <a16:creationId xmlns:a16="http://schemas.microsoft.com/office/drawing/2014/main" id="{FB137813-C725-4EEF-943E-06D62A1B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290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算例：3 张 × 0.01 MON = 0.03 MON</a:t>
            </a:r>
          </a:p>
        </p:txBody>
      </p:sp>
      <p:sp>
        <p:nvSpPr>
          <p:cNvPr id="9" name="organizer-amount">
            <a:extLst xmlns:a="http://schemas.openxmlformats.org/drawingml/2006/main">
              <a:ext uri="{FF2B5EF4-FFF2-40B4-BE49-F238E27FC236}">
                <a16:creationId xmlns:a16="http://schemas.microsoft.com/office/drawing/2014/main" id="{3E498437-CA42-4FC7-8FB4-B76A479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57725"/>
            <a:ext cx="3657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63E99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263E99"/>
                </a:solidFill>
                <a:latin typeface="Arial Narrow"/>
                <a:ea typeface="Arial Narrow"/>
                <a:cs typeface="Arial Narrow"/>
              </a:rPr>
              <a:t>0.0297 MON</a:t>
            </a:r>
          </a:p>
        </p:txBody>
      </p:sp>
      <p:sp>
        <p:nvSpPr>
          <p:cNvPr id="10" name="platform-amount">
            <a:extLst xmlns:a="http://schemas.openxmlformats.org/drawingml/2006/main">
              <a:ext uri="{FF2B5EF4-FFF2-40B4-BE49-F238E27FC236}">
                <a16:creationId xmlns:a16="http://schemas.microsoft.com/office/drawing/2014/main" id="{C386BF68-F4DB-4EFD-8F22-CC44A9D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657725"/>
            <a:ext cx="30765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55D2B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E55D2B"/>
                </a:solidFill>
                <a:latin typeface="Arial Narrow"/>
                <a:ea typeface="Arial Narrow"/>
                <a:cs typeface="Arial Narrow"/>
              </a:rPr>
              <a:t>0.0003 MON</a:t>
            </a:r>
          </a:p>
        </p:txBody>
      </p:sp>
      <p:sp>
        <p:nvSpPr>
          <p:cNvPr id="11" name="organizer-balance">
            <a:extLst xmlns:a="http://schemas.openxmlformats.org/drawingml/2006/main">
              <a:ext uri="{FF2B5EF4-FFF2-40B4-BE49-F238E27FC236}">
                <a16:creationId xmlns:a16="http://schemas.microsoft.com/office/drawing/2014/main" id="{3549AB47-7481-48C8-9483-31BB24DD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673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rPr>
              <a:t>主办方待提款</a:t>
            </a:r>
          </a:p>
        </p:txBody>
      </p:sp>
      <p:sp>
        <p:nvSpPr>
          <p:cNvPr id="12" name="platform-balance">
            <a:extLst xmlns:a="http://schemas.openxmlformats.org/drawingml/2006/main">
              <a:ext uri="{FF2B5EF4-FFF2-40B4-BE49-F238E27FC236}">
                <a16:creationId xmlns:a16="http://schemas.microsoft.com/office/drawing/2014/main" id="{FC9AB73A-F682-4F37-92DF-9BE2039C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2673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rPr>
              <a:t>平台待提款</a:t>
            </a:r>
          </a:p>
        </p:txBody>
      </p:sp>
      <p:sp>
        <p:nvSpPr>
          <p:cNvPr id="13" name="fee-rule">
            <a:extLst xmlns:a="http://schemas.openxmlformats.org/drawingml/2006/main">
              <a:ext uri="{FF2B5EF4-FFF2-40B4-BE49-F238E27FC236}">
                <a16:creationId xmlns:a16="http://schemas.microsoft.com/office/drawing/2014/main" id="{D55BAA56-C6EC-487F-B38F-A96C2661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915025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63E99"/>
                </a:solidFill>
                <a:latin typeface="Hiragino Sans GB"/>
                <a:ea typeface="Hiragino Sans GB"/>
                <a:cs typeface="Hiragino Sans GB"/>
              </a:rPr>
              <a:t>平台费从成交额中扣除，买家无需另付。</a:t>
            </a:r>
          </a:p>
        </p:txBody>
      </p:sp>
      <p:sp>
        <p:nvSpPr>
          <p:cNvPr id="14" name="gas-note">
            <a:extLst xmlns:a="http://schemas.openxmlformats.org/drawingml/2006/main">
              <a:ext uri="{FF2B5EF4-FFF2-40B4-BE49-F238E27FC236}">
                <a16:creationId xmlns:a16="http://schemas.microsoft.com/office/drawing/2014/main" id="{F1EF518A-9838-4380-84ED-8DE661E8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63341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977A1"/>
                </a:solidFill>
                <a:latin typeface="Hiragino Sans GB"/>
                <a:ea typeface="Hiragino Sans GB"/>
                <a:cs typeface="Hiragino Sans GB"/>
              </a:rPr>
              <a:t>以上金额均为测试 MON，网络费另计。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CA484FD-BC81-41CB-B4BC-6056AE8B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912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7A1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6977A1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7740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63E9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94BFF1-F275-4FA3-B82A-F5EF75C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当前进展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52C46A-6248-4607-93DD-4C49492C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71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已部署至 Monad 测试网，完整验收仍在继续</a:t>
            </a:r>
          </a:p>
        </p:txBody>
      </p:sp>
      <p:sp>
        <p:nvSpPr>
          <p:cNvPr id="3" name="complete-label">
            <a:extLst xmlns:a="http://schemas.openxmlformats.org/drawingml/2006/main">
              <a:ext uri="{FF2B5EF4-FFF2-40B4-BE49-F238E27FC236}">
                <a16:creationId xmlns:a16="http://schemas.microsoft.com/office/drawing/2014/main" id="{80B2C74C-0D9E-49AE-93F8-1E30A3C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26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rPr>
              <a:t>已完成</a:t>
            </a:r>
          </a:p>
        </p:txBody>
      </p:sp>
      <p:sp>
        <p:nvSpPr>
          <p:cNvPr id="4" name="pending-label">
            <a:extLst xmlns:a="http://schemas.openxmlformats.org/drawingml/2006/main">
              <a:ext uri="{FF2B5EF4-FFF2-40B4-BE49-F238E27FC236}">
                <a16:creationId xmlns:a16="http://schemas.microsoft.com/office/drawing/2014/main" id="{ED479E3C-7EDC-4F61-BB75-9A3EC419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E55D2B"/>
                </a:solidFill>
                <a:latin typeface="Hiragino Sans GB"/>
                <a:ea typeface="Hiragino Sans GB"/>
                <a:cs typeface="Hiragino Sans GB"/>
              </a:rPr>
              <a:t>待验收</a:t>
            </a:r>
          </a:p>
        </p:txBody>
      </p:sp>
      <p:sp>
        <p:nvSpPr>
          <p:cNvPr id="5" name="deployed">
            <a:extLst xmlns:a="http://schemas.openxmlformats.org/drawingml/2006/main">
              <a:ext uri="{FF2B5EF4-FFF2-40B4-BE49-F238E27FC236}">
                <a16:creationId xmlns:a16="http://schemas.microsoft.com/office/drawing/2014/main" id="{27A4D9BA-7E57-49A9-BBC0-29948D1B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5286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页面与合约已部署</a:t>
            </a:r>
          </a:p>
        </p:txBody>
      </p:sp>
      <p:sp>
        <p:nvSpPr>
          <p:cNvPr id="6" name="verified">
            <a:extLst xmlns:a="http://schemas.openxmlformats.org/drawingml/2006/main">
              <a:ext uri="{FF2B5EF4-FFF2-40B4-BE49-F238E27FC236}">
                <a16:creationId xmlns:a16="http://schemas.microsoft.com/office/drawing/2014/main" id="{0B5473D8-E197-4CDC-BF46-9C15E020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5282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合约源码已验证，可查看链上记录</a:t>
            </a:r>
          </a:p>
        </p:txBody>
      </p:sp>
      <p:sp>
        <p:nvSpPr>
          <p:cNvPr id="7" name="smoke">
            <a:extLst xmlns:a="http://schemas.openxmlformats.org/drawingml/2006/main">
              <a:ext uri="{FF2B5EF4-FFF2-40B4-BE49-F238E27FC236}">
                <a16:creationId xmlns:a16="http://schemas.microsoft.com/office/drawing/2014/main" id="{FB88B96C-53FE-4F74-8231-37AAC4C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5286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单人购买已跑通</a:t>
            </a:r>
          </a:p>
        </p:txBody>
      </p:sp>
      <p:sp>
        <p:nvSpPr>
          <p:cNvPr id="8" name="smoke-detail">
            <a:extLst xmlns:a="http://schemas.openxmlformats.org/drawingml/2006/main">
              <a:ext uri="{FF2B5EF4-FFF2-40B4-BE49-F238E27FC236}">
                <a16:creationId xmlns:a16="http://schemas.microsoft.com/office/drawing/2014/main" id="{67F73781-DE69-47FA-B41F-6637651C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NFT 归属与分账读数已核对</a:t>
            </a:r>
          </a:p>
        </p:txBody>
      </p:sp>
      <p:sp>
        <p:nvSpPr>
          <p:cNvPr id="9" name="local-tests">
            <a:extLst xmlns:a="http://schemas.openxmlformats.org/drawingml/2006/main">
              <a:ext uri="{FF2B5EF4-FFF2-40B4-BE49-F238E27FC236}">
                <a16:creationId xmlns:a16="http://schemas.microsoft.com/office/drawing/2014/main" id="{EC59642B-A1E0-4533-84BD-C8A2B468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库存与权限等保护项已做本地测试</a:t>
            </a:r>
          </a:p>
        </p:txBody>
      </p:sp>
      <p:sp>
        <p:nvSpPr>
          <p:cNvPr id="10" name="three-recipient">
            <a:extLst xmlns:a="http://schemas.openxmlformats.org/drawingml/2006/main">
              <a:ext uri="{FF2B5EF4-FFF2-40B4-BE49-F238E27FC236}">
                <a16:creationId xmlns:a16="http://schemas.microsoft.com/office/drawing/2014/main" id="{5F31CAB4-CB26-4DF5-A741-5CD2A593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28950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3 个地址同笔购买</a:t>
            </a:r>
          </a:p>
        </p:txBody>
      </p:sp>
      <p:sp>
        <p:nvSpPr>
          <p:cNvPr id="11" name="three-recipient-detail">
            <a:extLst xmlns:a="http://schemas.openxmlformats.org/drawingml/2006/main">
              <a:ext uri="{FF2B5EF4-FFF2-40B4-BE49-F238E27FC236}">
                <a16:creationId xmlns:a16="http://schemas.microsoft.com/office/drawing/2014/main" id="{F3FA11CE-AFDB-4B11-B378-C1788EF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528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核对三枚 Pass、库存和账目</a:t>
            </a:r>
          </a:p>
        </p:txBody>
      </p:sp>
      <p:sp>
        <p:nvSpPr>
          <p:cNvPr id="12" name="withdraw">
            <a:extLst xmlns:a="http://schemas.openxmlformats.org/drawingml/2006/main">
              <a:ext uri="{FF2B5EF4-FFF2-40B4-BE49-F238E27FC236}">
                <a16:creationId xmlns:a16="http://schemas.microsoft.com/office/drawing/2014/main" id="{EEB72D7F-EF2A-42B8-A83B-E052E4EF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14825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主办方与平台分别提款</a:t>
            </a:r>
          </a:p>
        </p:txBody>
      </p:sp>
      <p:sp>
        <p:nvSpPr>
          <p:cNvPr id="13" name="withdraw-detail">
            <a:extLst xmlns:a="http://schemas.openxmlformats.org/drawingml/2006/main">
              <a:ext uri="{FF2B5EF4-FFF2-40B4-BE49-F238E27FC236}">
                <a16:creationId xmlns:a16="http://schemas.microsoft.com/office/drawing/2014/main" id="{395F454D-8762-413E-B249-EEF431D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补充两笔测试网提款记录</a:t>
            </a:r>
          </a:p>
        </p:txBody>
      </p:sp>
      <p:sp>
        <p:nvSpPr>
          <p:cNvPr id="14" name="scope">
            <a:extLst xmlns:a="http://schemas.openxmlformats.org/drawingml/2006/main">
              <a:ext uri="{FF2B5EF4-FFF2-40B4-BE49-F238E27FC236}">
                <a16:creationId xmlns:a16="http://schemas.microsoft.com/office/drawing/2014/main" id="{A18BB260-3D7D-4F90-87E8-59F848AB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05525"/>
            <a:ext cx="1052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AFAF7"/>
                </a:solidFill>
                <a:latin typeface="Hiragino Sans GB"/>
                <a:ea typeface="Hiragino Sans GB"/>
                <a:cs typeface="Hiragino Sans GB"/>
              </a:rPr>
              <a:t>本版仅验证 Pass 发放与结算。退款、核销暂不支持。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B7D5C2-3B31-456C-8EFE-661E39F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912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AFAF7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FAFAF7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6079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2026-09-05T10:24:12.9900000Z</dcterms:created>
  <dcterms:modified xsi:type="dcterms:W3CDTF">2026-09-05T10:24:12.9900000Z</dcterms:modified>
</coreProperties>
</file>